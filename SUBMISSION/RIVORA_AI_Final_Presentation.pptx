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0F7FF"/>
                </a:solidFill>
                <a:latin typeface="Aptos"/>
              </a:rPr>
              <a:t>RIVORA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40DCDC"/>
                </a:solidFill>
                <a:latin typeface="Aptos"/>
              </a:rPr>
              <a:t>AI-Powered Community Flood Risk &amp; Preparedness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5146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4B9CC"/>
                </a:solidFill>
                <a:latin typeface="Aptos"/>
              </a:rPr>
              <a:t>An explainable environmental intelligence prototype for community-level flood and waterlogging risk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383280"/>
            <a:ext cx="4937760" cy="310896"/>
          </a:xfrm>
          <a:prstGeom prst="roundRect">
            <a:avLst/>
          </a:prstGeom>
          <a:solidFill>
            <a:srgbClr val="132A44"/>
          </a:solidFill>
          <a:ln>
            <a:solidFill>
              <a:srgbClr val="4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438144"/>
            <a:ext cx="47914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0DCDC"/>
                </a:solidFill>
                <a:latin typeface="Aptos"/>
              </a:rPr>
              <a:t>PRIMARY SDG 11 • SUSTAINABLE CITIES &amp; COMMUNITIES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822191"/>
            <a:ext cx="2743200" cy="310896"/>
          </a:xfrm>
          <a:prstGeom prst="roundRect">
            <a:avLst/>
          </a:prstGeom>
          <a:solidFill>
            <a:srgbClr val="132A44"/>
          </a:solidFill>
          <a:ln>
            <a:solidFill>
              <a:srgbClr val="2AB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877055"/>
            <a:ext cx="2596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AB4AF"/>
                </a:solidFill>
                <a:latin typeface="Aptos"/>
              </a:rPr>
              <a:t>SECONDARY: SDG 13 • SDG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074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0F7FF"/>
                </a:solidFill>
                <a:latin typeface="Aptos"/>
              </a:rPr>
              <a:t>Joyeeta Das  |  B.Tech CSE  |  Institute of Engineering &amp; Management (IEM), Kolkata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5321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9CC"/>
                </a:solidFill>
                <a:latin typeface="Aptos"/>
              </a:rPr>
              <a:t>IBM SkillsBuild + AICTE AI &amp; Sustainability Virtual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CDC"/>
                </a:solidFill>
                <a:latin typeface="Aptos"/>
              </a:rPr>
              <a:t>01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7FF"/>
                </a:solidFill>
                <a:latin typeface="Aptos"/>
              </a:rPr>
              <a:t>The Sustainability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75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9CC"/>
                </a:solidFill>
                <a:latin typeface="Aptos"/>
              </a:rPr>
              <a:t>Flooding and waterlogging create practical risks for everyday community life.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394960" cy="352044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130552"/>
            <a:ext cx="4992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B4AF"/>
                </a:solidFill>
                <a:latin typeface="Aptos"/>
              </a:rPr>
              <a:t>WHAT COMMUNITIES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60320"/>
            <a:ext cx="49926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Roads can become difficult to use after heavy rainfall, and moderate rain can also cause local water accumulation.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Water may enter homes and shops located beside affected roads.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Villagers can face serious travel disruption during flooding.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Agricultural fields may remain submerged after prolonged rainfall.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Riverbank erosion can threaten agricultural land and houses.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65960"/>
            <a:ext cx="5349240" cy="352044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2130552"/>
            <a:ext cx="49469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0DCDC"/>
                </a:solidFill>
                <a:latin typeface="Aptos"/>
              </a:rPr>
              <a:t>THE INFORMATION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560320"/>
            <a:ext cx="4946903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Environmental factors such as rainfall, drainage, terrain and previous flooding contain useful risk signals.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Ordinary users may find these factors difficult to interpret.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RIVORA converts structured inputs into an understandable relative risk assessment.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The system also provides practical preparedness guidance.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It is a decision-support prototype—not an official warning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CDC"/>
                </a:solidFill>
                <a:latin typeface="Aptos"/>
              </a:rPr>
              <a:t>02 • USERS &amp; SDGS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7FF"/>
                </a:solidFill>
                <a:latin typeface="Aptos"/>
              </a:rPr>
              <a:t>Who RIVORA Supports &amp; SDG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75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9CC"/>
                </a:solidFill>
                <a:latin typeface="Aptos"/>
              </a:rPr>
              <a:t>Designed around community resilience rather than technology for its own sake.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03520" cy="356616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39112"/>
            <a:ext cx="49011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0DCDC"/>
                </a:solidFill>
                <a:latin typeface="Aptos"/>
              </a:rPr>
              <a:t>TARGET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68879"/>
            <a:ext cx="4901183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Community residents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Farmers and rural communities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Students and community volunteers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NGOs and community-awareness programs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Future application: local administration and disaster-management stakeholders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74519"/>
            <a:ext cx="5394960" cy="356616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2039112"/>
            <a:ext cx="4992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B4AF"/>
                </a:solidFill>
                <a:latin typeface="Aptos"/>
              </a:rPr>
              <a:t>SDG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468879"/>
            <a:ext cx="4992624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SDG 11 — Sustainable Cities &amp; Communities: primary focus on resilience and safer communities.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SDG 13 — Climate Action: supports climate-risk awareness and preparedness.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SDG 6 — Clean Water &amp; Sanitation: connects flooding/waterlogging with water-related community risks.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0DCDC"/>
                </a:solidFill>
                <a:latin typeface="Aptos"/>
              </a:rPr>
              <a:t>HOW MIGHT WE?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504688"/>
            <a:ext cx="9235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0F7FF"/>
                </a:solidFill>
                <a:latin typeface="Aptos"/>
              </a:rPr>
              <a:t>How might we use AI to interpret environmental risk factors and provide understandable flood-risk and preparedness guidance so that communities can become more resilient to flooding and waterlogging?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CDC"/>
                </a:solidFill>
                <a:latin typeface="Aptos"/>
              </a:rPr>
              <a:t>03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7FF"/>
                </a:solidFill>
                <a:latin typeface="Aptos"/>
              </a:rPr>
              <a:t>RIVORA AI —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75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9CC"/>
                </a:solidFill>
                <a:latin typeface="Aptos"/>
              </a:rPr>
              <a:t>A layered AI-assisted decision-support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57600" cy="3977639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93392"/>
            <a:ext cx="32552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0DCDC"/>
                </a:solidFill>
                <a:latin typeface="Aptos"/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23160"/>
            <a:ext cx="325526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Rainfall intensity and duration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Terrain / elevation context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Drainage condition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Previous flooding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Existing water accumulation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Location/general-area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3977639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993392"/>
            <a:ext cx="27980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B4AF"/>
                </a:solidFill>
                <a:latin typeface="Aptos"/>
              </a:rPr>
              <a:t>AI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23160"/>
            <a:ext cx="279806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Risk classification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Explainable reasoning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Knowledge retrieval / RAG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Decision support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Conversational preparedness guidance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Uncertainty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828800"/>
            <a:ext cx="3657600" cy="3977639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993392"/>
            <a:ext cx="32552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ABE82"/>
                </a:solidFill>
                <a:latin typeface="Aptos"/>
              </a:rP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423160"/>
            <a:ext cx="325526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LOW / MODERATE / HIGH / VERY HIGH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Main contributing factors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Reasoning and uncertainty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Practical preparedness actions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Safety disclaimer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Insufficient-data response when evidence is inadequate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CDC"/>
                </a:solidFill>
                <a:latin typeface="Aptos"/>
              </a:rPr>
              <a:t>04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7FF"/>
                </a:solidFill>
                <a:latin typeface="Aptos"/>
              </a:rP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75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9CC"/>
                </a:solidFill>
                <a:latin typeface="Aptos"/>
              </a:rPr>
              <a:t>The prototype separates environmental inputs, risk interpretation, grounded knowledge and user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783080" cy="1234440"/>
          </a:xfrm>
          <a:prstGeom prst="roundRect">
            <a:avLst/>
          </a:prstGeom>
          <a:solidFill>
            <a:srgbClr val="0E1F33"/>
          </a:solidFill>
          <a:ln>
            <a:solidFill>
              <a:srgbClr val="4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0DCD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15636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7FF"/>
                </a:solidFill>
                <a:latin typeface="Aptos"/>
              </a:rPr>
              <a:t>Environmental &amp; community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272491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4B9C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331720"/>
            <a:ext cx="1783080" cy="1234440"/>
          </a:xfrm>
          <a:prstGeom prst="roundRect">
            <a:avLst/>
          </a:prstGeom>
          <a:solidFill>
            <a:srgbClr val="0E1F33"/>
          </a:solidFill>
          <a:ln>
            <a:solidFill>
              <a:srgbClr val="2AB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248716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0DCD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788920"/>
            <a:ext cx="15636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7FF"/>
                </a:solidFill>
                <a:latin typeface="Aptos"/>
              </a:rPr>
              <a:t>RIVORA risk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2491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4B9C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331720"/>
            <a:ext cx="1783080" cy="1234440"/>
          </a:xfrm>
          <a:prstGeom prst="roundRect">
            <a:avLst/>
          </a:prstGeom>
          <a:solidFill>
            <a:srgbClr val="0E1F33"/>
          </a:solidFill>
          <a:ln>
            <a:solidFill>
              <a:srgbClr val="4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48716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0DCD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88920"/>
            <a:ext cx="15636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7FF"/>
                </a:solidFill>
                <a:latin typeface="Aptos"/>
              </a:rPr>
              <a:t>Explainable risk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2491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4B9C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331720"/>
            <a:ext cx="1783080" cy="1234440"/>
          </a:xfrm>
          <a:prstGeom prst="roundRect">
            <a:avLst/>
          </a:prstGeom>
          <a:solidFill>
            <a:srgbClr val="0E1F33"/>
          </a:solidFill>
          <a:ln>
            <a:solidFill>
              <a:srgbClr val="2AB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48716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0DCD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788920"/>
            <a:ext cx="15636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7FF"/>
                </a:solidFill>
                <a:latin typeface="Aptos"/>
              </a:rPr>
              <a:t>Knowledge / evidence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2491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4B9C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331720"/>
            <a:ext cx="1783080" cy="1234440"/>
          </a:xfrm>
          <a:prstGeom prst="roundRect">
            <a:avLst/>
          </a:prstGeom>
          <a:solidFill>
            <a:srgbClr val="0E1F33"/>
          </a:solidFill>
          <a:ln>
            <a:solidFill>
              <a:srgbClr val="4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7" y="248716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0DCDC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7" y="2788920"/>
            <a:ext cx="15636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7FF"/>
                </a:solidFill>
                <a:latin typeface="Aptos"/>
              </a:rPr>
              <a:t>Preparedness decision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72491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4B9CC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2331720"/>
            <a:ext cx="1783080" cy="1234440"/>
          </a:xfrm>
          <a:prstGeom prst="roundRect">
            <a:avLst/>
          </a:prstGeom>
          <a:solidFill>
            <a:srgbClr val="0E1F33"/>
          </a:solidFill>
          <a:ln>
            <a:solidFill>
              <a:srgbClr val="2AB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51007" y="248716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0DCDC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51007" y="2788920"/>
            <a:ext cx="15636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7FF"/>
                </a:solidFill>
                <a:latin typeface="Aptos"/>
              </a:rPr>
              <a:t>User-facing response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60520"/>
            <a:ext cx="10241280" cy="141732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325112"/>
            <a:ext cx="9838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0DCDC"/>
                </a:solidFill>
                <a:latin typeface="Aptos"/>
              </a:rPr>
              <a:t>RESPONSIBLE DESIGN PRINCIPLE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754880"/>
            <a:ext cx="98389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RIVORA does not invent measurements or official warnings; when information is insufficient, it explicitly says so and asks for additional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CDC"/>
                </a:solidFill>
                <a:latin typeface="Aptos"/>
              </a:rPr>
              <a:t>05 •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7FF"/>
                </a:solidFill>
                <a:latin typeface="Aptos"/>
              </a:rPr>
              <a:t>Flood &amp; Waterlogging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75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9CC"/>
                </a:solidFill>
                <a:latin typeface="Aptos"/>
              </a:rPr>
              <a:t>Example of the core environmental-risk interaction in the working prototype.</a:t>
            </a:r>
          </a:p>
        </p:txBody>
      </p:sp>
      <p:pic>
        <p:nvPicPr>
          <p:cNvPr id="5" name="Picture 4" descr="msedge_Df1oKDKKf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315200" cy="4069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513832"/>
            <a:ext cx="7315200" cy="384048"/>
          </a:xfrm>
          <a:prstGeom prst="roundRect">
            <a:avLst/>
          </a:prstGeom>
          <a:solidFill>
            <a:srgbClr val="05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577840"/>
            <a:ext cx="7095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0F7FF"/>
                </a:solidFill>
                <a:latin typeface="Aptos"/>
              </a:rPr>
              <a:t>Prototype screen: rainfall reference + community/environmental conditions + risk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3291840" cy="406908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1993392"/>
            <a:ext cx="28895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B4AF"/>
                </a:solidFill>
                <a:latin typeface="Aptos"/>
              </a:rPr>
              <a:t>WHAT IT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2423160"/>
            <a:ext cx="288950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Location/general-area context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Recent rainfall reference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Community conditions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Relative risk classification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Clear prototype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CDC"/>
                </a:solidFill>
                <a:latin typeface="Aptos"/>
              </a:rPr>
              <a:t>06 •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7FF"/>
                </a:solidFill>
                <a:latin typeface="Aptos"/>
              </a:rPr>
              <a:t>Environmental Intelligence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75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9CC"/>
                </a:solidFill>
                <a:latin typeface="Aptos"/>
              </a:rPr>
              <a:t>A centralized view of recorded risk context and decision support.</a:t>
            </a:r>
          </a:p>
        </p:txBody>
      </p:sp>
      <p:pic>
        <p:nvPicPr>
          <p:cNvPr id="5" name="Picture 4" descr="msedge_z71gY8DM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754380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650992"/>
            <a:ext cx="7543800" cy="384048"/>
          </a:xfrm>
          <a:prstGeom prst="roundRect">
            <a:avLst/>
          </a:prstGeom>
          <a:solidFill>
            <a:srgbClr val="05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715000"/>
            <a:ext cx="7324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0F7FF"/>
                </a:solidFill>
                <a:latin typeface="Aptos"/>
              </a:rPr>
              <a:t>Situation Overview / Command Center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783080"/>
            <a:ext cx="3108960" cy="425196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13648" y="194767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0DCDC"/>
                </a:solidFill>
                <a:latin typeface="Aptos"/>
              </a:rPr>
              <a:t>KEY 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377440"/>
            <a:ext cx="270662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Overall risk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Risk score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Active risk factors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Assessment count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Data-confidence state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Geospatial reference workspace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Intelligence summary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Assessment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CDC"/>
                </a:solidFill>
                <a:latin typeface="Aptos"/>
              </a:rPr>
              <a:t>07 •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7FF"/>
                </a:solidFill>
                <a:latin typeface="Aptos"/>
              </a:rPr>
              <a:t>AI Preparedness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75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9CC"/>
                </a:solidFill>
                <a:latin typeface="Aptos"/>
              </a:rPr>
              <a:t>Grounded, practical guidance for real-world flood situations.</a:t>
            </a:r>
          </a:p>
        </p:txBody>
      </p:sp>
      <p:pic>
        <p:nvPicPr>
          <p:cNvPr id="5" name="Picture 4" descr="msedge_1aYQMzJW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754380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650992"/>
            <a:ext cx="7543800" cy="384048"/>
          </a:xfrm>
          <a:prstGeom prst="roundRect">
            <a:avLst/>
          </a:prstGeom>
          <a:solidFill>
            <a:srgbClr val="05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715000"/>
            <a:ext cx="7324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0F7FF"/>
                </a:solidFill>
                <a:latin typeface="Aptos"/>
              </a:rPr>
              <a:t>Guided Before / During / After Flooding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783080"/>
            <a:ext cx="3108960" cy="425196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13648" y="194767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B4AF"/>
                </a:solidFill>
                <a:latin typeface="Aptos"/>
              </a:rPr>
              <a:t>EXAMPLE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377440"/>
            <a:ext cx="270662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Before: prepare for heavy rainfall and waterlogging.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During: respond safely to flooded roads.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After: check hazards before returning.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Guidance stays within the prototype's safety scope.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Official government/disaster-management instructions remain authoritative.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CDC"/>
                </a:solidFill>
                <a:latin typeface="Aptos"/>
              </a:rPr>
              <a:t>08 • AUDITABILITY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7FF"/>
                </a:solidFill>
                <a:latin typeface="Aptos"/>
              </a:rPr>
              <a:t>Assessment History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75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9CC"/>
                </a:solidFill>
                <a:latin typeface="Aptos"/>
              </a:rPr>
              <a:t>The prototype records assessment activity for traceability and review.</a:t>
            </a:r>
          </a:p>
        </p:txBody>
      </p:sp>
      <p:pic>
        <p:nvPicPr>
          <p:cNvPr id="5" name="Picture 4" descr="msedge_kI6V0A6JH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754380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650992"/>
            <a:ext cx="7543800" cy="384048"/>
          </a:xfrm>
          <a:prstGeom prst="roundRect">
            <a:avLst/>
          </a:prstGeom>
          <a:solidFill>
            <a:srgbClr val="05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715000"/>
            <a:ext cx="73243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0F7FF"/>
                </a:solidFill>
                <a:latin typeface="Aptos"/>
              </a:rPr>
              <a:t>Recorded assessment history and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783080"/>
            <a:ext cx="3108960" cy="425196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13648" y="1947672"/>
            <a:ext cx="2706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0DCDC"/>
                </a:solidFill>
                <a:latin typeface="Aptos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377440"/>
            <a:ext cx="270662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Creates an auditable session record.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Supports comparison of user-created assessments.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Shows domain, location, risk level and timestamps.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Helps evaluate consistency during prototype testing.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Recorded assessments are not claimed as measured environmental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CDC"/>
                </a:solidFill>
                <a:latin typeface="Aptos"/>
              </a:rPr>
              <a:t>09 •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7FF"/>
                </a:solidFill>
                <a:latin typeface="Aptos"/>
              </a:rPr>
              <a:t>Evidence, Trust &amp; Knowledge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75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9CC"/>
                </a:solidFill>
                <a:latin typeface="Aptos"/>
              </a:rPr>
              <a:t>RIVORA separates evidence provenance from AI-generated interpretation.</a:t>
            </a:r>
          </a:p>
        </p:txBody>
      </p:sp>
      <p:pic>
        <p:nvPicPr>
          <p:cNvPr id="5" name="Picture 4" descr="msedge_a3ntrMAl1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223760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468112"/>
            <a:ext cx="7223760" cy="384048"/>
          </a:xfrm>
          <a:prstGeom prst="roundRect">
            <a:avLst/>
          </a:prstGeom>
          <a:solidFill>
            <a:srgbClr val="05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532120"/>
            <a:ext cx="7004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0F7FF"/>
                </a:solidFill>
                <a:latin typeface="Aptos"/>
              </a:rPr>
              <a:t>Evidence &amp; Trust / knowledge provenance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828800"/>
            <a:ext cx="3429000" cy="402336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3608" y="199339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B4AF"/>
                </a:solidFill>
                <a:latin typeface="Aptos"/>
              </a:rPr>
              <a:t>KNOWLEDGE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3608" y="2423160"/>
            <a:ext cx="30266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Authoritative guidance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Supplemental references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User-provided context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Prototype/reference information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Grounded retrieval for preparedness responses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No invented official warnings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CDC"/>
                </a:solidFill>
                <a:latin typeface="Aptos"/>
              </a:rPr>
              <a:t>10 •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7FF"/>
                </a:solidFill>
                <a:latin typeface="Aptos"/>
              </a:rPr>
              <a:t>Responsible AI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75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9CC"/>
                </a:solidFill>
                <a:latin typeface="Aptos"/>
              </a:rPr>
              <a:t>Safety is part of the product design, not an afterthought.</a:t>
            </a:r>
          </a:p>
        </p:txBody>
      </p:sp>
      <p:pic>
        <p:nvPicPr>
          <p:cNvPr id="5" name="Picture 4" descr="msedge_Aqht7upCf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722376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650992"/>
            <a:ext cx="7223760" cy="384048"/>
          </a:xfrm>
          <a:prstGeom prst="roundRect">
            <a:avLst/>
          </a:prstGeom>
          <a:solidFill>
            <a:srgbClr val="05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715000"/>
            <a:ext cx="70043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0F7FF"/>
                </a:solidFill>
                <a:latin typeface="Aptos"/>
              </a:rPr>
              <a:t>Responsible AI safeguards in the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783080"/>
            <a:ext cx="3429000" cy="425196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3608" y="194767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0DCDC"/>
                </a:solidFill>
                <a:latin typeface="Aptos"/>
              </a:rPr>
              <a:t>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3608" y="2377440"/>
            <a:ext cx="302666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Transparency &amp; explainability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Explicit uncertainty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Privacy / no unnecessary personal data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Fairness across different community contexts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Human oversight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Safety boundaries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Hallucination prevention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No claim of official warning 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CDC"/>
                </a:solidFill>
                <a:latin typeface="Aptos"/>
              </a:rPr>
              <a:t>11 •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7FF"/>
                </a:solidFill>
                <a:latin typeface="Aptos"/>
              </a:rPr>
              <a:t>Prototype Testing &amp; 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75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9CC"/>
                </a:solidFill>
                <a:latin typeface="Aptos"/>
              </a:rPr>
              <a:t>Testing focuses on logical consistency and safe handling of uncertainty.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406908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93392"/>
            <a:ext cx="4992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B4AF"/>
                </a:solidFill>
                <a:latin typeface="Aptos"/>
              </a:rPr>
              <a:t>TEST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23160"/>
            <a:ext cx="499262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Light rain + elevated terrain + good drainage → Low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Heavy rain + good drainage + elevated terrain → Moderate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Heavy/prolonged rain + poor drainage + low terrain + previous flooding → High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Very heavy/prolonged rain + multiple severe factors → Very High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Unknown critical inputs → Insufficient Data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Mixed or ambiguous inputs → cautious interpretation rather than fabricated certainty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406908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993392"/>
            <a:ext cx="49011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0DCDC"/>
                </a:solidFill>
                <a:latin typeface="Aptos"/>
              </a:rPr>
              <a:t>WHAT IS NOT CLAIMED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423160"/>
            <a:ext cx="4901183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No fabricated accuracy percentage.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No official flood-warning authority.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No exact flood depth or evacuation route prediction.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No claim that prototype scores represent measured environmental conditions.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Future validation should use historical events, authoritative datasets and domain experts.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CDC"/>
                </a:solidFill>
                <a:latin typeface="Aptos"/>
              </a:rPr>
              <a:t>12 •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0F7FF"/>
                </a:solidFill>
                <a:latin typeface="Aptos"/>
              </a:rPr>
              <a:t>Impact &amp; Future Production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0759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9CC"/>
                </a:solidFill>
                <a:latin typeface="Aptos"/>
              </a:rPr>
              <a:t>From a prototype decision-support layer toward a validated environmental intelligence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120640" cy="4114800"/>
          </a:xfrm>
          <a:prstGeom prst="roundRect">
            <a:avLst/>
          </a:prstGeom>
          <a:solidFill>
            <a:srgbClr val="0E1F33"/>
          </a:solidFill>
          <a:ln>
            <a:solidFill>
              <a:srgbClr val="1C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93392"/>
            <a:ext cx="47183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ABE82"/>
                </a:solidFill>
                <a:latin typeface="Aptos"/>
              </a:rPr>
              <a:t>EXPECTED IMPACT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23160"/>
            <a:ext cx="4718303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Environmental information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→ understandable risk interpretation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→ clearer preparedness decisions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→ earlier practical precautions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→ reduced exposure / potential losses</a:t>
            </a:r>
          </a:p>
          <a:p>
            <a:pPr>
              <a:spcAft>
                <a:spcPts val="700"/>
              </a:spcAft>
              <a:defRPr sz="1250">
                <a:solidFill>
                  <a:srgbClr val="F0F7FF"/>
                </a:solidFill>
                <a:latin typeface="Aptos"/>
              </a:defRPr>
            </a:pPr>
            <a:r>
              <a:t>• → more resilient communities</a:t>
            </a:r>
          </a:p>
        </p:txBody>
      </p:sp>
      <p:pic>
        <p:nvPicPr>
          <p:cNvPr id="8" name="Picture 7" descr="msedge_OzuBP9iq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28800"/>
            <a:ext cx="5486400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35040" y="5559552"/>
            <a:ext cx="5486400" cy="384048"/>
          </a:xfrm>
          <a:prstGeom prst="roundRect">
            <a:avLst/>
          </a:prstGeom>
          <a:solidFill>
            <a:srgbClr val="05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5623560"/>
            <a:ext cx="52669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0F7FF"/>
                </a:solidFill>
                <a:latin typeface="Aptos"/>
              </a:rPr>
              <a:t>Future Production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0F7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40DCDC"/>
                </a:solidFill>
                <a:latin typeface="Aptos"/>
              </a:rPr>
              <a:t>RIVORA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4B9CC"/>
                </a:solidFill>
                <a:latin typeface="Aptos"/>
              </a:rPr>
              <a:t>AI-Powered Community Flood Risk &amp; Preparedness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3703320"/>
            <a:ext cx="6446520" cy="310896"/>
          </a:xfrm>
          <a:prstGeom prst="roundRect">
            <a:avLst/>
          </a:prstGeom>
          <a:solidFill>
            <a:srgbClr val="132A44"/>
          </a:solidFill>
          <a:ln>
            <a:solidFill>
              <a:srgbClr val="2AB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53512" y="3758183"/>
            <a:ext cx="6300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AB4AF"/>
                </a:solidFill>
                <a:latin typeface="Aptos"/>
              </a:rPr>
              <a:t>AI-ASSISTED DECISION SUPPORT • RESPONSIBLE AI • COMMUNITY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006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0F7FF"/>
                </a:solidFill>
                <a:latin typeface="Aptos"/>
              </a:rPr>
              <a:t>Joyeeta Das  |  Institute of Engineering &amp; Management (IEM), Kolkata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3036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4B9CC"/>
                </a:solidFill>
                <a:latin typeface="Aptos"/>
              </a:rPr>
              <a:t>Prototype submission • IBM SkillsBuild + AICTE AI &amp; Sustainability Virtual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4B9CC"/>
                </a:solidFill>
                <a:latin typeface="Aptos"/>
              </a:rPr>
              <a:t>RIVORA AI  •  AI-assisted environmental risk &amp; preparedness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4B9CC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